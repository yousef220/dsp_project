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3581B-C503-42AF-BE03-55A9DE6B407B}">
  <a:tblStyle styleId="{9C33581B-C503-42AF-BE03-55A9DE6B40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55570" y="1714500"/>
            <a:ext cx="688086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Audio Signal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for </a:t>
            </a:r>
            <a:r>
              <a:rPr lang="en-US" sz="54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Emotion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95662" y="3733800"/>
            <a:ext cx="5400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Comprehensive Voice Monitoring &amp; Emotion Detection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252912" y="4591050"/>
            <a:ext cx="36861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F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Under the supervision of: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Dr. Doaa Adel</a:t>
            </a:r>
            <a:r>
              <a:rPr lang="en-US" sz="1800" b="0" i="0" u="none" strike="noStrike" cap="none">
                <a:solidFill>
                  <a:srgbClr val="00FF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| </a:t>
            </a:r>
            <a:r>
              <a:rPr lang="en-US" sz="18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Eng. Fatma Elzahraa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2637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500312"/>
            <a:ext cx="5229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project bridges Hardware and Software to analyze human voice patterns. By capturing audio peaks via Arduino and processing them in real-time with Python, the system classifies the speaker's emotional state based on sound intensity.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2162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4119562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Signal Acquisition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4548187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Digital Signal Processing (DSP)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976812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Emotion Classification Logic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41195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45481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9768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581025"/>
            <a:ext cx="392049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0312"/>
            <a:ext cx="35495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500312"/>
            <a:ext cx="3549699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2500312"/>
            <a:ext cx="35495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95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76300" y="3414712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Latency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3881437"/>
            <a:ext cx="2959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Detecting emotion in real-time requires high-speed data processing without delay.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6350" y="2795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616350" y="3414712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Noise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16350" y="3881437"/>
            <a:ext cx="29591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Environmental noise can distort audio readings, requiring a baseline calculation.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550" y="27955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356550" y="3414712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Visualization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56550" y="3881437"/>
            <a:ext cx="295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Representing complex waveforms in a way that is intuitive for users.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8700" y="293846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59225" y="29384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99425" y="29384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71525" y="581025"/>
            <a:ext cx="335041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Challenge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2637"/>
            <a:ext cx="52292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2162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66775" y="2647950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Hardware Layer: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Arduino Uno + High-Sensitivity Microphone Sensor.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66775" y="3362325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Transport Layer: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Serial Communication (USB) at 9600 Baud Rate.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66775" y="4076700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Software Layer: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Python (Tkinter GUI, Matplotlib Graphics).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4505325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Analysis Layer: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Moving Average Smoothing &amp; Baseline Adaptation.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26479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33623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40767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45053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71525" y="581025"/>
            <a:ext cx="462057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52637"/>
            <a:ext cx="52292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062162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381750" y="248602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Input Mechanism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381750" y="2895600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utilizes the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Analog Input (A0)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of the Arduino. The microphone captures sound pressure waves and converts them into voltage fluctuations.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67500" y="3943350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Operating Voltage: 5V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67500" y="4371975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Sensitivity Adjustment: Potentiometer on Mic Module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0" y="4800600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Sample Window: 50ms for stable signal detection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81750" y="394335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381750" y="43719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381750" y="48006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71525" y="581025"/>
            <a:ext cx="370046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Hardware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Layer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50753"/>
            <a:ext cx="11029950" cy="69934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81025" y="2698253"/>
            <a:ext cx="110299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accurately measure sound intensity, we use the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Peak-to-Peak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method within the Arduino loop. This filters out DC offset and focuses on wave magnitude.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81025" y="4731097"/>
            <a:ext cx="110299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resulting value represents the true loudness of the ambient sound, which is then transmitted via Serial.println().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3850778"/>
            <a:ext cx="10629900" cy="29929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71525" y="581025"/>
            <a:ext cx="279034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Signal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Logic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2637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81025" y="279558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Libraries Used</a:t>
            </a:r>
            <a:endParaRPr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2162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66775" y="3167062"/>
            <a:ext cx="49434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PySerial: Connects Python to Arduino hardware.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66775" y="3605212"/>
            <a:ext cx="49434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Tkinter: Professional Dark-mode GUI development.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66775" y="4043362"/>
            <a:ext cx="49434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Collections (Deque): Efficient real-time data buffering.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66775" y="4481512"/>
            <a:ext cx="49434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NumPy: Mathematical calculations for baseline averages.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81025" y="31670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36052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40433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81025" y="44815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71525" y="581025"/>
            <a:ext cx="4570571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Python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Environment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52637"/>
            <a:ext cx="52292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062162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6381750" y="268605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Smooth Graph Engine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381750" y="309562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UI integrates a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Matplotlib</a:t>
            </a: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figure into a Tkinter canvas. To prevent jittery lines, we implement a smoothing loop: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381750" y="3857625"/>
            <a:ext cx="5229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FF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avg = sum(temp[start:i+1]) / len(temp[start:i+1])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381750" y="4276725"/>
            <a:ext cx="5229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provides a professional, fluid "medical-grade" waveform display.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71525" y="581025"/>
            <a:ext cx="398049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Live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Visualization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43250"/>
            <a:ext cx="35495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3143250"/>
            <a:ext cx="3549699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275" y="3143250"/>
            <a:ext cx="35495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81025" y="2667000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adaptively learns the room's noise floor (Baseline) and categorizes input based on deviation thresholds: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76300" y="34385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Calm 😌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76300" y="3905250"/>
            <a:ext cx="295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Deviation &lt; 10 units above baseline. Indicates silence or soft speaking.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616350" y="3438525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Normal 🙂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16350" y="3905250"/>
            <a:ext cx="29591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Deviation &lt; 40 units. Represents conversational speaking levels.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356550" y="3438525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Angry 😡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356550" y="3905250"/>
            <a:ext cx="2959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Deviation &gt; 40 units. Sharp spikes indicating shouting or high emotion.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71525" y="581025"/>
            <a:ext cx="499062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Emotion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Classification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2637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81025" y="248126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How it learns?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81025" y="2890837"/>
            <a:ext cx="522922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program maintains a baseline list of the first 50 readings. This allows the system to calibrate itself to different room environments before starting the analysis.</a:t>
            </a:r>
            <a:endParaRPr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2162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866775" y="3948112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Calibration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66775" y="4376737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Buffer size: 15 points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66775" y="4805362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Moving Average: 20ms refresh rate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81025" y="39481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81025" y="43767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81025" y="48053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71525" y="581025"/>
            <a:ext cx="4610576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Baseline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Adaptation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23"/>
          <p:cNvGraphicFramePr/>
          <p:nvPr>
            <p:extLst>
              <p:ext uri="{D42A27DB-BD31-4B8C-83A1-F6EECF244321}">
                <p14:modId xmlns:p14="http://schemas.microsoft.com/office/powerpoint/2010/main" val="315263744"/>
              </p:ext>
            </p:extLst>
          </p:nvPr>
        </p:nvGraphicFramePr>
        <p:xfrm>
          <a:off x="609600" y="2742575"/>
          <a:ext cx="7252420" cy="3409900"/>
        </p:xfrm>
        <a:graphic>
          <a:graphicData uri="http://schemas.openxmlformats.org/drawingml/2006/table">
            <a:tbl>
              <a:tblPr firstRow="1" bandRow="1">
                <a:noFill/>
                <a:tableStyleId>{9C33581B-C503-42AF-BE03-55A9DE6B407B}</a:tableStyleId>
              </a:tblPr>
              <a:tblGrid>
                <a:gridCol w="4536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0FFC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Yousef Mohamed Elsayed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Khaled ELSAYED mohamed mohamed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Abdelrhman Saeed Tawakol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Ebrahim Abdelsalam qamh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Omar ahmed ahmed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Ahmed abdelaziz mohamed abbas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2" name="Google Shape;242;p23"/>
          <p:cNvSpPr/>
          <p:nvPr/>
        </p:nvSpPr>
        <p:spPr>
          <a:xfrm>
            <a:off x="581025" y="2695575"/>
            <a:ext cx="689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480399" y="2695575"/>
            <a:ext cx="41305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81025" y="3171825"/>
            <a:ext cx="689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480399" y="3171825"/>
            <a:ext cx="41305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81025" y="3648075"/>
            <a:ext cx="689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480399" y="3648075"/>
            <a:ext cx="41305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81025" y="4124325"/>
            <a:ext cx="689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480399" y="4124325"/>
            <a:ext cx="41305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81025" y="4600575"/>
            <a:ext cx="689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480399" y="4600575"/>
            <a:ext cx="41305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81025" y="5076825"/>
            <a:ext cx="689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7480399" y="5076825"/>
            <a:ext cx="41305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81025" y="5553075"/>
            <a:ext cx="689937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480399" y="5553075"/>
            <a:ext cx="413057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71525" y="581025"/>
            <a:ext cx="303037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375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Team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81025" y="581025"/>
            <a:ext cx="57150" cy="581025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1687" y="4133850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5535930" y="2152650"/>
            <a:ext cx="11201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lang="en-US" sz="1800" b="1" i="0" u="none" strike="noStrike" cap="none">
                <a:solidFill>
                  <a:srgbClr val="00FFCC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3276600" y="2619375"/>
            <a:ext cx="5638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extend our deepest gratitude to our mentors for their guidance.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3939680" y="3429000"/>
            <a:ext cx="43126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Dr. Doaa Adel | Eng. Fatma </a:t>
            </a:r>
            <a:r>
              <a:rPr lang="en-US" sz="1800" b="0" i="0" u="none" strike="noStrike" cap="none" dirty="0" err="1">
                <a:solidFill>
                  <a:srgbClr val="00FFC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Elzahraa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Widescreen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JetBrains Mono</vt:lpstr>
      <vt:lpstr>Calibri</vt:lpstr>
      <vt:lpstr>Urbanist</vt:lpstr>
      <vt:lpstr>Urbanist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YOUSEF MOHAMED ELSAYED ABDALLA EMAM</cp:lastModifiedBy>
  <cp:revision>1</cp:revision>
  <dcterms:modified xsi:type="dcterms:W3CDTF">2026-05-08T23:13:50Z</dcterms:modified>
</cp:coreProperties>
</file>